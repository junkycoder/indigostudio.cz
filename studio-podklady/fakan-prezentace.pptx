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B16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F1B16"/>
                </a:solidFill>
                <a:latin typeface="Georgia"/>
              </a:rPr>
              <a:t>Hosting MRR (tis. Kč/měs)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(tis. Kč)</c:v>
                </c:pt>
              </c:strCache>
            </c:strRef>
          </c:tx>
          <c:spPr>
            <a:solidFill>
              <a:srgbClr val="C84B31"/>
            </a:solidFill>
            <a:ln w="38100" cap="flat">
              <a:solidFill>
                <a:srgbClr val="C84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B31"/>
              </a:solidFill>
              <a:ln w="9525" cap="flat">
                <a:solidFill>
                  <a:srgbClr val="C84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M9</c:v>
                  </c:pt>
                  <c:pt idx="7">
                    <c:v>M12</c:v>
                  </c:pt>
                  <c:pt idx="8">
                    <c:v>M18</c:v>
                  </c:pt>
                  <c:pt idx="9">
                    <c:v>M24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8</c:v>
                </c:pt>
                <c:pt idx="2">
                  <c:v>18</c:v>
                </c:pt>
                <c:pt idx="3">
                  <c:v>32</c:v>
                </c:pt>
                <c:pt idx="4">
                  <c:v>48</c:v>
                </c:pt>
                <c:pt idx="5">
                  <c:v>68</c:v>
                </c:pt>
                <c:pt idx="6">
                  <c:v>130</c:v>
                </c:pt>
                <c:pt idx="7">
                  <c:v>210</c:v>
                </c:pt>
                <c:pt idx="8">
                  <c:v>380</c:v>
                </c:pt>
                <c:pt idx="9">
                  <c:v>580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E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0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9F6F0"/>
        </a:solidFill>
        <a:ln>
          <a:noFill/>
        </a:ln>
        <a:effectLst/>
      </c:spPr>
    </c:plotArea>
    <c:plotVisOnly val="1"/>
    <c:dispBlanksAs val="span"/>
  </c:chart>
  <c:spPr>
    <a:solidFill>
      <a:srgbClr val="F9F6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fakan.cz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Autonomní webové studio.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A7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české jednotlivce, malé firmy a spolky.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5669280"/>
            <a:ext cx="1371600" cy="0"/>
          </a:xfrm>
          <a:prstGeom prst="line">
            <a:avLst/>
          </a:prstGeom>
          <a:noFill/>
          <a:ln w="25400">
            <a:solidFill>
              <a:srgbClr val="D47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web, jedině od Fakana.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 Studio s.r.o. · IČO 14389096 · jsem@fakan.cz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České SMB weby jsou v roce 2026 v pasti.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74 %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webů malých firem v ČR má skóre přístupnosti pod 60.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 2025 vyžaduje minimálně 80.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19456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 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754880" y="39319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průměrný čas načtení mobilní stránky.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penalizuje vše nad 1,5 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219456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z 10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595360" y="39319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návštěvníků opustí web kvůli cookie banneru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dřív, než uvidí, co děláte.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Statistiky orientační, vzato z výzkumů obecně známých studií. Klient to neví — auditor mu to ukáže.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Studio, kde 90 % práce udělá pipeline.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7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Klient zadá URL. Auditor projede. Strategist nacení. Builder postaví. Hostmaster spustí. Concierge hlídá. Nikdo z týmu nemusí hnout prstem, dokud klient neřekne ano.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926080"/>
            <a:ext cx="73152" cy="155448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Rendering, axe, cookies, perf.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Výstup: skóre + 5–10 konkrétních věcí.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29260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926080"/>
            <a:ext cx="73152" cy="155448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34290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API. Z findings → 3 cenované varianty.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#2 do 2 dnů.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29260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926080"/>
            <a:ext cx="73152" cy="155448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34290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šablon. Brief → Cloudflare Pages.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Mini-CMS jako Durable Object.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663440"/>
            <a:ext cx="73152" cy="155448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HOSTMASTER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1663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Doména, SSL, denní záloha do R2.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exportu jedním klikem.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46634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663440"/>
            <a:ext cx="73152" cy="155448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51663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cron: uptime, deps, certifikáty.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Měsíční report mailem.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46634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4663440"/>
            <a:ext cx="73152" cy="155448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9640" y="51663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kampaně, follow-up, reaktivace.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+ KV state machine.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KOHO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Tři segmenty, tři vstupy do funnelu.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Jednotlivci · OSVČ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Řemeslníci, právníci, terapeuti, fotografové.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Levný vstup (Lite 99 Kč). Růst z brandu Fakana.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0" y="2423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~600 000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subjektů v ČR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Malé a střední firmy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Restaurace, ubytování, lokální služby, e-shopy do 30 produktů.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249 / Pro 590 Kč.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3840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~1,1 mil.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6868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subjektů v ČR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Spolky a z. 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5623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Specifický segment, který nikdo neobsluhuje.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 vertikála — appka pro členy, ARES sync.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5257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~30 000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686800" y="5897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subjektů v ČR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 čísel: ČSÚ + ARES (orientačně, k aktualizaci).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TEĎ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Tři vlny, které se srazily v 2025–26.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194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EAA 2025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743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Evropská směrnice o přístupnosti platí od června 2025 i pro malé firmy.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Většina o tom neví a nesplňuje minimum.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640080" cy="640080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566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 únava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Návštěvník si banner zavře a odejde.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ho nutí, marketingu kazí konverzi. Vznikla díra po cookie-free brand.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640080" cy="640080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937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 zralost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5486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Workers, D1, Queues, Browser Rendering — všechno produkční.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Levný stack na recurring revenue za pakatel.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Cesta leada — 0 minut lidské práce do nabídky.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e-mail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29260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7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40280" y="228600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468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2971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Skóre + findings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29260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7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840480" y="228600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468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#1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971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 inboxu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9260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7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40680" y="228600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468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2971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cenované varianty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29260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7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040880" y="228600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468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#2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2971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 řešení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 dny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29260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7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8641080" y="228600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2468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#3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32520" y="2971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Pevná nabídka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3252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 dní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04120" y="29260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7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10241280" y="2286000"/>
            <a:ext cx="1508760" cy="1828800"/>
          </a:xfrm>
          <a:prstGeom prst="rect">
            <a:avLst/>
          </a:prstGeom>
          <a:solidFill>
            <a:srgbClr val="1F1B16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0" y="2468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D4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332720" y="2971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+ hosting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33272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 týdny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Lidský zásah až ve chvíli, kdy klient odpoví na e-mail.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Celá pipeline: 1× Worker, 1× Queue, 1× cron, Resend, Claude API.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Šest rolí, které dělají práci celého týmu.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Rendering, axe, cookie sniff, headers, perf, CMS fingerprint.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Cenotvorba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154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API. JSON s 3 cenovanými variantami. Modulace dle ARES segmentu.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210312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9536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Továrna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3154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šablon. Brief → copy → Cloudflare Pages. Per-site Durable Object jako CMS.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Hostmaster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303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Doména, SSL, denní záloha do R2, ZIP export, fakturace.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425196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Concierge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4937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Údržba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5303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cron. Uptime, deps drift, cert expiry. Měsíční report klientovi.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425196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Salesman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95360" y="4937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kampaně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5303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+ KV state machine. Follow-up, reaktivace, upsell.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Cloudflare-native. Nuda. To je výhoda.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103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runtime pro celou pipeline. 1 GB RAM, sub-50 ms cold start.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87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na edge. Lead pipeline, audity, findings, mail events.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712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87121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7 dní per doména, rate-limit, mail state.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552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2552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Reporty, screenshoty, ZIP exporty, content.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39312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393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6393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jobs, retry, DLQ pro selhané.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Objects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023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CMS state. Real-time editace.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07408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074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44074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pro audity. axe-core injekce.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791456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914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479145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klientských webů. Bez serveru.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175504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75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66160" y="517550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+ drip maily. List-Unsubscribe headers.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559552"/>
            <a:ext cx="10881360" cy="0"/>
          </a:xfrm>
          <a:prstGeom prst="line">
            <a:avLst/>
          </a:prstGeom>
          <a:noFill/>
          <a:ln w="6350">
            <a:solidFill>
              <a:srgbClr val="E5E0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559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6160" y="55595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(sonnet-4-5). JSON output, few-shot.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+ bespoke. Předvídatelný MRR.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Vizitka, malý web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Kč/měs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doména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Záloha + ZIP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566160" cy="2834640"/>
          </a:xfrm>
          <a:prstGeom prst="rect">
            <a:avLst/>
          </a:prstGeom>
          <a:solidFill>
            <a:srgbClr val="1F1B16"/>
          </a:solidFill>
          <a:ln w="12700">
            <a:solidFill>
              <a:srgbClr val="1F1B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D4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Klasická firma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249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Kč/měs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domény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Přednostní podpora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210312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Větší web / e-shop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3200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59536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Kč/měs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domén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 + práva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Realizace (bespoke)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532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Oprava 8–25 tis. · Redesign 25–60 tis. · Nový web 35–120 tis. Kč.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navrhuje cenu z findings + ARES segmentu.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ODLIŠENÍ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Tři pravidla, ze kterých neslevíme.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73152" cy="118872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Bez cookie okénka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Web Analytics místo GA. Žádné 3rd-party trackery.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Návštěvník vidí web, ne souhlas.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73152" cy="118872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20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Bez vázanosti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měsíčně. ZIP celého webu kdykoli zdarma.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Konkurence drží data jako rukojmí — my 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73152" cy="118872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92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EAA-ready od první minuty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Šablony jsou WCAG 2.1 AA z výroby.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EAA splní bez toho, že o tom ví.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Pět fází. Tři měsíce do produkční pipeline.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80160" y="2286000"/>
            <a:ext cx="548640" cy="548640"/>
          </a:xfrm>
          <a:prstGeom prst="ellipse">
            <a:avLst/>
          </a:prstGeom>
          <a:solidFill>
            <a:srgbClr val="84A98C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leadgen formulář, brand.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560320"/>
            <a:ext cx="182880" cy="0"/>
          </a:xfrm>
          <a:prstGeom prst="line">
            <a:avLst/>
          </a:prstGeom>
          <a:noFill/>
          <a:ln w="19050">
            <a:solidFill>
              <a:srgbClr val="E5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286000"/>
            <a:ext cx="548640" cy="548640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1–2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474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+ Strategist + drip maily v produkci.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560320"/>
            <a:ext cx="182880" cy="0"/>
          </a:xfrm>
          <a:prstGeom prst="line">
            <a:avLst/>
          </a:prstGeom>
          <a:noFill/>
          <a:ln w="19050">
            <a:solidFill>
              <a:srgbClr val="E5E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286000"/>
            <a:ext cx="548640" cy="548640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3–4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474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šablony Builderu, self-service onboarding hostingu.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560320"/>
            <a:ext cx="182880" cy="0"/>
          </a:xfrm>
          <a:prstGeom prst="line">
            <a:avLst/>
          </a:prstGeom>
          <a:noFill/>
          <a:ln w="19050">
            <a:solidFill>
              <a:srgbClr val="E5E0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2286000"/>
            <a:ext cx="548640" cy="548640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5–7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474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Klientský portál (web + iOS), Concierge agent.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2560320"/>
            <a:ext cx="182880" cy="0"/>
          </a:xfrm>
          <a:prstGeom prst="line">
            <a:avLst/>
          </a:prstGeom>
          <a:noFill/>
          <a:ln w="19050">
            <a:solidFill>
              <a:srgbClr val="E5E0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2286000"/>
            <a:ext cx="548640" cy="548640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8–10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3474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Spolková vertikála, ARES enrichment, cold outreach.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0" y="2560320"/>
            <a:ext cx="182880" cy="0"/>
          </a:xfrm>
          <a:prstGeom prst="line">
            <a:avLst/>
          </a:prstGeom>
          <a:noFill/>
          <a:ln w="19050">
            <a:solidFill>
              <a:srgbClr val="E5E0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2286000"/>
            <a:ext cx="548640" cy="548640"/>
          </a:xfrm>
          <a:prstGeom prst="ellipse">
            <a:avLst/>
          </a:prstGeom>
          <a:solidFill>
            <a:srgbClr val="C84B31"/>
          </a:solidFill>
          <a:ln/>
        </p:spPr>
      </p:sp>
      <p:sp>
        <p:nvSpPr>
          <p:cNvPr id="30" name="Text 28"/>
          <p:cNvSpPr/>
          <p:nvPr/>
        </p:nvSpPr>
        <p:spPr>
          <a:xfrm>
            <a:off x="108813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8700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11+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87000" y="3474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Lokální SEO farma, content engine, referral.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MRR projekce — orientačně, k validaci.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600 Kč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+ cold outreach + content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4 %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klient (po auditu)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280 Kč/měs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Lite/Standard/Pro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0" y="4434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0" y="4709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2 %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0" y="5029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měsíčně, free ZIP export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5212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cíl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5486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580 tis.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72400" y="5806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2 000 hostingových klientů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Čísla jsou model, ne závazek. Po prvních 50 leadech revaluovat.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TEĎ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 do produkce.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9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Zbytek poskládat, dokud běží.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164592" cy="164592"/>
          </a:xfrm>
          <a:prstGeom prst="ellipse">
            <a:avLst/>
          </a:prstGeom>
          <a:solidFill>
            <a:srgbClr val="D4783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1: Worker + D1 schema + Browser Rendering — boilerplate hotov.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64592" cy="164592"/>
          </a:xfrm>
          <a:prstGeom prst="ellipse">
            <a:avLst/>
          </a:prstGeom>
          <a:solidFill>
            <a:srgbClr val="D4783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2: Strategist prompt v provozu, drip maily, audit page UI.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164592" cy="164592"/>
          </a:xfrm>
          <a:prstGeom prst="ellipse">
            <a:avLst/>
          </a:prstGeom>
          <a:solidFill>
            <a:srgbClr val="D478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3: První 20 reálných auditů → tunit prompt + thresholdy.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486400"/>
            <a:ext cx="164592" cy="164592"/>
          </a:xfrm>
          <a:prstGeom prst="ellipse">
            <a:avLst/>
          </a:prstGeom>
          <a:solidFill>
            <a:srgbClr val="D4783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4: Builder MVP (3 šablony) — první klient skrz pipeline.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6126480"/>
            <a:ext cx="10972800" cy="0"/>
          </a:xfrm>
          <a:prstGeom prst="line">
            <a:avLst/>
          </a:prstGeom>
          <a:noFill/>
          <a:ln w="6350">
            <a:solidFill>
              <a:srgbClr val="8A7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jsem@fakan.cz · +420 604 690 539 · fakan.cz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Indigo Studio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fakan.cz — autonomní webové studio</dc:title>
  <dc:subject>PptxGenJS Presentation</dc:subject>
  <dc:creator>fakan.cz</dc:creator>
  <cp:lastModifiedBy>fakan.cz</cp:lastModifiedBy>
  <cp:revision>1</cp:revision>
  <dcterms:created xsi:type="dcterms:W3CDTF">2026-05-09T06:07:30Z</dcterms:created>
  <dcterms:modified xsi:type="dcterms:W3CDTF">2026-05-09T06:07:30Z</dcterms:modified>
</cp:coreProperties>
</file>